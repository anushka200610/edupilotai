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evaluators. Today, we are presenting EduPilot AI, an Agentic AI decision-support system designed to solve a critical challenge in academic institutions: timely, evidence-grounded student performance analysis and early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second-year engineering curricula, foundational courses like Data Structures and Machine Learning require continuous engagement. When a student's attendance slips below 75% or their exam score drops sharply, early detection is vital. EduPilot AI uses an agentic workflow to decompose the review into planning, MCP analytics, intervention, and independent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contrast. Instead of faculty spending 20 minutes manually inspecting spreadsheets for a single student, EduPilot AI executes end-to-end multi-agent screening in under 10 milliseconds, assigning responsible faculty roles and measurable milestones.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core AIML theoretical grounding from Russell &amp; Norvig. Agent 1 is a Goal-Based Agent, Agent 2 is a Model-Based Reflex Agent with an internal longitudinal model, Agent 3 is a Utility-Based Agent optimizing recovery utility, and Agent 4 is a Learning/Verification Agent with an adversarial Critic component feeding error signals to our Correction node.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view the live demonstration. Our Streamlit dashboard provides a clean, responsive academic portal. Faculty can select student STU1016, view their 65% attendance concern, examine the 18-field report, and inspect the live LangGraph execution trace on Page 3 with full telemetry.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correctness and safety are the core priorities of this project. We built an automated test suite of 26 pytest unit tests all passing, and an evaluation runner benchmarking 10 reproducible scenarios with 100% compliance and 6.9 ms average latency.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EduPilot AI demonstrates how agentic AI can assist educators ethically while preserving human-in-the-loop oversight. By uniting LangGraph, MCP, transparent rules, and an independent Critic, we provide a production-grade academic tool.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365760"/>
            <a:ext cx="1371600" cy="457200"/>
          </a:xfrm>
          <a:prstGeom prst="rect">
            <a:avLst/>
          </a:prstGeom>
          <a:noFill/>
        </p:spPr>
        <p:txBody>
          <a:bodyPr wrap="none">
            <a:spAutoFit/>
          </a:bodyPr>
          <a:lstStyle/>
          <a:p>
            <a:pPr algn="r">
              <a:defRPr sz="1200" b="1">
                <a:solidFill>
                  <a:srgbClr val="475569"/>
                </a:solidFill>
              </a:defRPr>
            </a:pPr>
            <a:r>
              <a:t>Slide 1 of 7</a:t>
            </a:r>
          </a:p>
        </p:txBody>
      </p:sp>
      <p:sp>
        <p:nvSpPr>
          <p:cNvPr id="3" name="TextBox 2"/>
          <p:cNvSpPr txBox="1"/>
          <p:nvPr/>
        </p:nvSpPr>
        <p:spPr>
          <a:xfrm>
            <a:off x="731520" y="548640"/>
            <a:ext cx="10058400" cy="1371600"/>
          </a:xfrm>
          <a:prstGeom prst="rect">
            <a:avLst/>
          </a:prstGeom>
          <a:noFill/>
        </p:spPr>
        <p:txBody>
          <a:bodyPr wrap="square">
            <a:spAutoFit/>
          </a:bodyPr>
          <a:lstStyle/>
          <a:p>
            <a:pPr>
              <a:defRPr sz="2800" b="1">
                <a:solidFill>
                  <a:srgbClr val="1E3A8A"/>
                </a:solidFill>
              </a:defRPr>
            </a:pPr>
            <a:r>
              <a:t>EduPilot AI: Academic Performance Analysis &amp; Intervention</a:t>
            </a:r>
          </a:p>
          <a:p>
            <a:pPr>
              <a:spcBef>
                <a:spcPts val="600"/>
              </a:spcBef>
              <a:defRPr sz="1600">
                <a:solidFill>
                  <a:srgbClr val="475569"/>
                </a:solidFill>
              </a:defRPr>
            </a:pPr>
            <a:r>
              <a:t>An Agentic AI Decision-Support System | Second-Year Undergraduate AIML CA-3</a:t>
            </a:r>
          </a:p>
        </p:txBody>
      </p:sp>
      <p:sp>
        <p:nvSpPr>
          <p:cNvPr id="4" name="TextBox 3"/>
          <p:cNvSpPr txBox="1"/>
          <p:nvPr/>
        </p:nvSpPr>
        <p:spPr>
          <a:xfrm>
            <a:off x="731520" y="2103120"/>
            <a:ext cx="10698480" cy="4114800"/>
          </a:xfrm>
          <a:prstGeom prst="rect">
            <a:avLst/>
          </a:prstGeom>
          <a:noFill/>
        </p:spPr>
        <p:txBody>
          <a:bodyPr wrap="square">
            <a:spAutoFit/>
          </a:bodyPr>
          <a:lstStyle/>
          <a:p>
            <a:pPr>
              <a:lnSpc>
                <a:spcPct val="115000"/>
              </a:lnSpc>
              <a:spcAft>
                <a:spcPts val="1400"/>
              </a:spcAft>
              <a:defRPr sz="1700">
                <a:solidFill>
                  <a:srgbClr val="0F172A"/>
                </a:solidFill>
              </a:defRPr>
            </a:pPr>
            <a:r>
              <a:t>•  Team Details: Presenter: [YOUR NAME] (PRN: [YOUR PRN]) | Partner: [PARTNER NAME] (PRN: [PARTNER PRN])</a:t>
            </a:r>
          </a:p>
          <a:p>
            <a:pPr>
              <a:lnSpc>
                <a:spcPct val="115000"/>
              </a:lnSpc>
              <a:spcAft>
                <a:spcPts val="1400"/>
              </a:spcAft>
              <a:defRPr sz="1700">
                <a:solidFill>
                  <a:srgbClr val="0F172A"/>
                </a:solidFill>
              </a:defRPr>
            </a:pPr>
            <a:r>
              <a:t>•  Department: Artificial Intelligence &amp; Machine Learning | Academic Term: Fall 2026</a:t>
            </a:r>
          </a:p>
          <a:p>
            <a:pPr>
              <a:lnSpc>
                <a:spcPct val="115000"/>
              </a:lnSpc>
              <a:spcAft>
                <a:spcPts val="1400"/>
              </a:spcAft>
              <a:defRPr sz="1700">
                <a:solidFill>
                  <a:srgbClr val="0F172A"/>
                </a:solidFill>
              </a:defRPr>
            </a:pPr>
            <a:r>
              <a:t>•  Problem Addressed: Automating early student academic review across fragmented departmental records</a:t>
            </a:r>
          </a:p>
          <a:p>
            <a:pPr>
              <a:lnSpc>
                <a:spcPct val="115000"/>
              </a:lnSpc>
              <a:spcAft>
                <a:spcPts val="1400"/>
              </a:spcAft>
              <a:defRPr sz="1700">
                <a:solidFill>
                  <a:srgbClr val="0F172A"/>
                </a:solidFill>
              </a:defRPr>
            </a:pPr>
            <a:r>
              <a:t>•  Core Innovations: 4 Specialized Agents, LangGraph Orchestration, Local MCP Tools, and Independent Critic Validation</a:t>
            </a:r>
          </a:p>
          <a:p>
            <a:pPr>
              <a:lnSpc>
                <a:spcPct val="115000"/>
              </a:lnSpc>
              <a:spcAft>
                <a:spcPts val="1400"/>
              </a:spcAft>
              <a:defRPr sz="1700">
                <a:solidFill>
                  <a:srgbClr val="0F172A"/>
                </a:solidFill>
              </a:defRPr>
            </a:pPr>
            <a:r>
              <a:t>•  Key Principle: Strict decision-support boundaries with 100% human-in-the-loop governance</a:t>
            </a:r>
          </a:p>
        </p:txBody>
      </p:sp>
      <p:sp>
        <p:nvSpPr>
          <p:cNvPr id="5" name="TextBox 4"/>
          <p:cNvSpPr txBox="1"/>
          <p:nvPr/>
        </p:nvSpPr>
        <p:spPr>
          <a:xfrm>
            <a:off x="731520" y="6217920"/>
            <a:ext cx="10698480" cy="365760"/>
          </a:xfrm>
          <a:prstGeom prst="rect">
            <a:avLst/>
          </a:prstGeom>
          <a:noFill/>
        </p:spPr>
        <p:txBody>
          <a:bodyPr wrap="none">
            <a:spAutoFit/>
          </a:bodyPr>
          <a:lstStyle/>
          <a:p>
            <a:pPr>
              <a:defRPr sz="1100">
                <a:solidFill>
                  <a:srgbClr val="475569"/>
                </a:solidFill>
              </a:defRPr>
            </a:pPr>
            <a:r>
              <a:t>EduPilot AI — AIML CA-3 Academic Support System | LangGraph + MCP + 4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365760"/>
            <a:ext cx="1371600" cy="457200"/>
          </a:xfrm>
          <a:prstGeom prst="rect">
            <a:avLst/>
          </a:prstGeom>
          <a:noFill/>
        </p:spPr>
        <p:txBody>
          <a:bodyPr wrap="none">
            <a:spAutoFit/>
          </a:bodyPr>
          <a:lstStyle/>
          <a:p>
            <a:pPr algn="r">
              <a:defRPr sz="1200" b="1">
                <a:solidFill>
                  <a:srgbClr val="475569"/>
                </a:solidFill>
              </a:defRPr>
            </a:pPr>
            <a:r>
              <a:t>Slide 2 of 7</a:t>
            </a:r>
          </a:p>
        </p:txBody>
      </p:sp>
      <p:sp>
        <p:nvSpPr>
          <p:cNvPr id="3" name="TextBox 2"/>
          <p:cNvSpPr txBox="1"/>
          <p:nvPr/>
        </p:nvSpPr>
        <p:spPr>
          <a:xfrm>
            <a:off x="731520" y="548640"/>
            <a:ext cx="10058400" cy="1371600"/>
          </a:xfrm>
          <a:prstGeom prst="rect">
            <a:avLst/>
          </a:prstGeom>
          <a:noFill/>
        </p:spPr>
        <p:txBody>
          <a:bodyPr wrap="square">
            <a:spAutoFit/>
          </a:bodyPr>
          <a:lstStyle/>
          <a:p>
            <a:pPr>
              <a:defRPr sz="2800" b="1">
                <a:solidFill>
                  <a:srgbClr val="1E3A8A"/>
                </a:solidFill>
              </a:defRPr>
            </a:pPr>
            <a:r>
              <a:t>Problem Statement &amp; Higher Education Domain Context</a:t>
            </a:r>
          </a:p>
          <a:p>
            <a:pPr>
              <a:spcBef>
                <a:spcPts val="600"/>
              </a:spcBef>
              <a:defRPr sz="1600">
                <a:solidFill>
                  <a:srgbClr val="475569"/>
                </a:solidFill>
              </a:defRPr>
            </a:pPr>
            <a:r>
              <a:t>Inefficiencies in Existing Academic Workflows &amp; Justification for Agentic AI</a:t>
            </a:r>
          </a:p>
        </p:txBody>
      </p:sp>
      <p:sp>
        <p:nvSpPr>
          <p:cNvPr id="4" name="TextBox 3"/>
          <p:cNvSpPr txBox="1"/>
          <p:nvPr/>
        </p:nvSpPr>
        <p:spPr>
          <a:xfrm>
            <a:off x="731520" y="2103120"/>
            <a:ext cx="10698480" cy="4114800"/>
          </a:xfrm>
          <a:prstGeom prst="rect">
            <a:avLst/>
          </a:prstGeom>
          <a:noFill/>
        </p:spPr>
        <p:txBody>
          <a:bodyPr wrap="square">
            <a:spAutoFit/>
          </a:bodyPr>
          <a:lstStyle/>
          <a:p>
            <a:pPr>
              <a:lnSpc>
                <a:spcPct val="115000"/>
              </a:lnSpc>
              <a:spcAft>
                <a:spcPts val="1400"/>
              </a:spcAft>
              <a:defRPr sz="1700">
                <a:solidFill>
                  <a:srgbClr val="0F172A"/>
                </a:solidFill>
              </a:defRPr>
            </a:pPr>
            <a:r>
              <a:t>•  Fragmented Academic Records: Attendance, continuous test scores, and LMS assignments stored in disconnected silos.</a:t>
            </a:r>
          </a:p>
          <a:p>
            <a:pPr>
              <a:lnSpc>
                <a:spcPct val="115000"/>
              </a:lnSpc>
              <a:spcAft>
                <a:spcPts val="1400"/>
              </a:spcAft>
              <a:defRPr sz="1700">
                <a:solidFill>
                  <a:srgbClr val="0F172A"/>
                </a:solidFill>
              </a:defRPr>
            </a:pPr>
            <a:r>
              <a:t>•  Cognitive Overload on Faculty Mentors: Manually reviewing 60-100 students across 4-6 subjects is labor-intensive.</a:t>
            </a:r>
          </a:p>
          <a:p>
            <a:pPr>
              <a:lnSpc>
                <a:spcPct val="115000"/>
              </a:lnSpc>
              <a:spcAft>
                <a:spcPts val="1400"/>
              </a:spcAft>
              <a:defRPr sz="1700">
                <a:solidFill>
                  <a:srgbClr val="0F172A"/>
                </a:solidFill>
              </a:defRPr>
            </a:pPr>
            <a:r>
              <a:t>•  Delayed Interventions: Struggling students identified only after mid-term exams, leaving insufficient time for remediation.</a:t>
            </a:r>
          </a:p>
          <a:p>
            <a:pPr>
              <a:lnSpc>
                <a:spcPct val="115000"/>
              </a:lnSpc>
              <a:spcAft>
                <a:spcPts val="1400"/>
              </a:spcAft>
              <a:defRPr sz="1700">
                <a:solidFill>
                  <a:srgbClr val="0F172A"/>
                </a:solidFill>
              </a:defRPr>
            </a:pPr>
            <a:r>
              <a:t>•  Why Agentic AI?: Monolithic scripts cannot adapt execution plans; black-box LLMs hallucinate calculations.</a:t>
            </a:r>
          </a:p>
          <a:p>
            <a:pPr>
              <a:lnSpc>
                <a:spcPct val="115000"/>
              </a:lnSpc>
              <a:spcAft>
                <a:spcPts val="1400"/>
              </a:spcAft>
              <a:defRPr sz="1700">
                <a:solidFill>
                  <a:srgbClr val="0F172A"/>
                </a:solidFill>
              </a:defRPr>
            </a:pPr>
            <a:r>
              <a:t>•  EduPilot Solution: Decomposed multi-agent workflow separating planning, analytics, interventions, and adversarial audit.</a:t>
            </a:r>
          </a:p>
        </p:txBody>
      </p:sp>
      <p:sp>
        <p:nvSpPr>
          <p:cNvPr id="5" name="TextBox 4"/>
          <p:cNvSpPr txBox="1"/>
          <p:nvPr/>
        </p:nvSpPr>
        <p:spPr>
          <a:xfrm>
            <a:off x="731520" y="6217920"/>
            <a:ext cx="10698480" cy="365760"/>
          </a:xfrm>
          <a:prstGeom prst="rect">
            <a:avLst/>
          </a:prstGeom>
          <a:noFill/>
        </p:spPr>
        <p:txBody>
          <a:bodyPr wrap="none">
            <a:spAutoFit/>
          </a:bodyPr>
          <a:lstStyle/>
          <a:p>
            <a:pPr>
              <a:defRPr sz="1100">
                <a:solidFill>
                  <a:srgbClr val="475569"/>
                </a:solidFill>
              </a:defRPr>
            </a:pPr>
            <a:r>
              <a:t>EduPilot AI — AIML CA-3 Academic Support System | LangGraph + MCP + 4 Agents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365760"/>
            <a:ext cx="1371600" cy="457200"/>
          </a:xfrm>
          <a:prstGeom prst="rect">
            <a:avLst/>
          </a:prstGeom>
          <a:noFill/>
        </p:spPr>
        <p:txBody>
          <a:bodyPr wrap="none">
            <a:spAutoFit/>
          </a:bodyPr>
          <a:lstStyle/>
          <a:p>
            <a:pPr algn="r">
              <a:defRPr sz="1200" b="1">
                <a:solidFill>
                  <a:srgbClr val="475569"/>
                </a:solidFill>
              </a:defRPr>
            </a:pPr>
            <a:r>
              <a:t>Slide 3 of 7</a:t>
            </a:r>
          </a:p>
        </p:txBody>
      </p:sp>
      <p:sp>
        <p:nvSpPr>
          <p:cNvPr id="3" name="TextBox 2"/>
          <p:cNvSpPr txBox="1"/>
          <p:nvPr/>
        </p:nvSpPr>
        <p:spPr>
          <a:xfrm>
            <a:off x="731520" y="548640"/>
            <a:ext cx="10058400" cy="1371600"/>
          </a:xfrm>
          <a:prstGeom prst="rect">
            <a:avLst/>
          </a:prstGeom>
          <a:noFill/>
        </p:spPr>
        <p:txBody>
          <a:bodyPr wrap="square">
            <a:spAutoFit/>
          </a:bodyPr>
          <a:lstStyle/>
          <a:p>
            <a:pPr>
              <a:defRPr sz="2800" b="1">
                <a:solidFill>
                  <a:srgbClr val="1E3A8A"/>
                </a:solidFill>
              </a:defRPr>
            </a:pPr>
            <a:r>
              <a:t>Comparative Analysis: Existing Process vs. EduPilot AI</a:t>
            </a:r>
          </a:p>
          <a:p>
            <a:pPr>
              <a:spcBef>
                <a:spcPts val="600"/>
              </a:spcBef>
              <a:defRPr sz="1600">
                <a:solidFill>
                  <a:srgbClr val="475569"/>
                </a:solidFill>
              </a:defRPr>
            </a:pPr>
            <a:r>
              <a:t>Transforming Fragmented Manual Review into Actionable Decision Support</a:t>
            </a:r>
          </a:p>
        </p:txBody>
      </p:sp>
      <p:sp>
        <p:nvSpPr>
          <p:cNvPr id="4" name="TextBox 3"/>
          <p:cNvSpPr txBox="1"/>
          <p:nvPr/>
        </p:nvSpPr>
        <p:spPr>
          <a:xfrm>
            <a:off x="731520" y="2103120"/>
            <a:ext cx="10698480" cy="4114800"/>
          </a:xfrm>
          <a:prstGeom prst="rect">
            <a:avLst/>
          </a:prstGeom>
          <a:noFill/>
        </p:spPr>
        <p:txBody>
          <a:bodyPr wrap="square">
            <a:spAutoFit/>
          </a:bodyPr>
          <a:lstStyle/>
          <a:p>
            <a:pPr>
              <a:lnSpc>
                <a:spcPct val="115000"/>
              </a:lnSpc>
              <a:spcAft>
                <a:spcPts val="1400"/>
              </a:spcAft>
              <a:defRPr sz="1700">
                <a:solidFill>
                  <a:srgbClr val="0F172A"/>
                </a:solidFill>
              </a:defRPr>
            </a:pPr>
            <a:r>
              <a:t>•  Data Aggregation: 15-30 minutes of manual register cross-referencing -&gt; Under 10 milliseconds via standardized MCP tools.</a:t>
            </a:r>
          </a:p>
          <a:p>
            <a:pPr>
              <a:lnSpc>
                <a:spcPct val="115000"/>
              </a:lnSpc>
              <a:spcAft>
                <a:spcPts val="1400"/>
              </a:spcAft>
              <a:defRPr sz="1700">
                <a:solidFill>
                  <a:srgbClr val="0F172A"/>
                </a:solidFill>
              </a:defRPr>
            </a:pPr>
            <a:r>
              <a:t>•  Pattern Recognition: Isolated single-subject checks -&gt; Holistic cross-subject correlation and trajectory detection.</a:t>
            </a:r>
          </a:p>
          <a:p>
            <a:pPr>
              <a:lnSpc>
                <a:spcPct val="115000"/>
              </a:lnSpc>
              <a:spcAft>
                <a:spcPts val="1400"/>
              </a:spcAft>
              <a:defRPr sz="1700">
                <a:solidFill>
                  <a:srgbClr val="0F172A"/>
                </a:solidFill>
              </a:defRPr>
            </a:pPr>
            <a:r>
              <a:t>•  Intervention Quality: Vague, subjective verbal guidance -&gt; Structured plans with assigned roles, review periods, and outcomes.</a:t>
            </a:r>
          </a:p>
          <a:p>
            <a:pPr>
              <a:lnSpc>
                <a:spcPct val="115000"/>
              </a:lnSpc>
              <a:spcAft>
                <a:spcPts val="1400"/>
              </a:spcAft>
              <a:defRPr sz="1700">
                <a:solidFill>
                  <a:srgbClr val="0F172A"/>
                </a:solidFill>
              </a:defRPr>
            </a:pPr>
            <a:r>
              <a:t>•  Safety &amp; Auditing: Unverified manual notes -&gt; Independent Critic Agent recomputing mathematical bounds and rules.</a:t>
            </a:r>
          </a:p>
          <a:p>
            <a:pPr>
              <a:lnSpc>
                <a:spcPct val="115000"/>
              </a:lnSpc>
              <a:spcAft>
                <a:spcPts val="1400"/>
              </a:spcAft>
              <a:defRPr sz="1700">
                <a:solidFill>
                  <a:srgbClr val="0F172A"/>
                </a:solidFill>
              </a:defRPr>
            </a:pPr>
            <a:r>
              <a:t>•  Governance Guardrail: EduPilot AI never debar, penalize, or replace teachers; all plans require human faculty approval.</a:t>
            </a:r>
          </a:p>
        </p:txBody>
      </p:sp>
      <p:sp>
        <p:nvSpPr>
          <p:cNvPr id="5" name="TextBox 4"/>
          <p:cNvSpPr txBox="1"/>
          <p:nvPr/>
        </p:nvSpPr>
        <p:spPr>
          <a:xfrm>
            <a:off x="731520" y="6217920"/>
            <a:ext cx="10698480" cy="365760"/>
          </a:xfrm>
          <a:prstGeom prst="rect">
            <a:avLst/>
          </a:prstGeom>
          <a:noFill/>
        </p:spPr>
        <p:txBody>
          <a:bodyPr wrap="none">
            <a:spAutoFit/>
          </a:bodyPr>
          <a:lstStyle/>
          <a:p>
            <a:pPr>
              <a:defRPr sz="1100">
                <a:solidFill>
                  <a:srgbClr val="475569"/>
                </a:solidFill>
              </a:defRPr>
            </a:pPr>
            <a:r>
              <a:t>EduPilot AI — AIML CA-3 Academic Support System | LangGraph + MCP + 4 Agents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365760"/>
            <a:ext cx="1371600" cy="457200"/>
          </a:xfrm>
          <a:prstGeom prst="rect">
            <a:avLst/>
          </a:prstGeom>
          <a:noFill/>
        </p:spPr>
        <p:txBody>
          <a:bodyPr wrap="none">
            <a:spAutoFit/>
          </a:bodyPr>
          <a:lstStyle/>
          <a:p>
            <a:pPr algn="r">
              <a:defRPr sz="1200" b="1">
                <a:solidFill>
                  <a:srgbClr val="475569"/>
                </a:solidFill>
              </a:defRPr>
            </a:pPr>
            <a:r>
              <a:t>Slide 4 of 7</a:t>
            </a:r>
          </a:p>
        </p:txBody>
      </p:sp>
      <p:sp>
        <p:nvSpPr>
          <p:cNvPr id="3" name="TextBox 2"/>
          <p:cNvSpPr txBox="1"/>
          <p:nvPr/>
        </p:nvSpPr>
        <p:spPr>
          <a:xfrm>
            <a:off x="731520" y="548640"/>
            <a:ext cx="10058400" cy="1371600"/>
          </a:xfrm>
          <a:prstGeom prst="rect">
            <a:avLst/>
          </a:prstGeom>
          <a:noFill/>
        </p:spPr>
        <p:txBody>
          <a:bodyPr wrap="square">
            <a:spAutoFit/>
          </a:bodyPr>
          <a:lstStyle/>
          <a:p>
            <a:pPr>
              <a:defRPr sz="2800" b="1">
                <a:solidFill>
                  <a:srgbClr val="1E3A8A"/>
                </a:solidFill>
              </a:defRPr>
            </a:pPr>
            <a:r>
              <a:t>AI Agent Taxonomy &amp; LangGraph Orchestration</a:t>
            </a:r>
          </a:p>
          <a:p>
            <a:pPr>
              <a:spcBef>
                <a:spcPts val="600"/>
              </a:spcBef>
              <a:defRPr sz="1600">
                <a:solidFill>
                  <a:srgbClr val="475569"/>
                </a:solidFill>
              </a:defRPr>
            </a:pPr>
            <a:r>
              <a:t>Theoretical Grounding (Russell &amp; Norvig) with Four Specialized Agent Paradigms</a:t>
            </a:r>
          </a:p>
        </p:txBody>
      </p:sp>
      <p:sp>
        <p:nvSpPr>
          <p:cNvPr id="4" name="TextBox 3"/>
          <p:cNvSpPr txBox="1"/>
          <p:nvPr/>
        </p:nvSpPr>
        <p:spPr>
          <a:xfrm>
            <a:off x="731520" y="2103120"/>
            <a:ext cx="10698480" cy="4114800"/>
          </a:xfrm>
          <a:prstGeom prst="rect">
            <a:avLst/>
          </a:prstGeom>
          <a:noFill/>
        </p:spPr>
        <p:txBody>
          <a:bodyPr wrap="square">
            <a:spAutoFit/>
          </a:bodyPr>
          <a:lstStyle/>
          <a:p>
            <a:pPr>
              <a:lnSpc>
                <a:spcPct val="115000"/>
              </a:lnSpc>
              <a:spcAft>
                <a:spcPts val="1400"/>
              </a:spcAft>
              <a:defRPr sz="1700">
                <a:solidFill>
                  <a:srgbClr val="0F172A"/>
                </a:solidFill>
              </a:defRPr>
            </a:pPr>
            <a:r>
              <a:t>•  Agent 1: Goal-Based Agent (Academic Planner) — Formulates goal state and decomposes review into an ordered 6-step plan.</a:t>
            </a:r>
          </a:p>
          <a:p>
            <a:pPr>
              <a:lnSpc>
                <a:spcPct val="115000"/>
              </a:lnSpc>
              <a:spcAft>
                <a:spcPts val="1400"/>
              </a:spcAft>
              <a:defRPr sz="1700">
                <a:solidFill>
                  <a:srgbClr val="0F172A"/>
                </a:solidFill>
              </a:defRPr>
            </a:pPr>
            <a:r>
              <a:t>•  Agent 2: Model-Based Reflex Agent (Student Analytics) — Maintains internal state across longitudinal records; evaluates condition-action rules via MCP.</a:t>
            </a:r>
          </a:p>
          <a:p>
            <a:pPr>
              <a:lnSpc>
                <a:spcPct val="115000"/>
              </a:lnSpc>
              <a:spcAft>
                <a:spcPts val="1400"/>
              </a:spcAft>
              <a:defRPr sz="1700">
                <a:solidFill>
                  <a:srgbClr val="0F172A"/>
                </a:solidFill>
              </a:defRPr>
            </a:pPr>
            <a:r>
              <a:t>•  Agent 3: Utility-Based Agent (Intervention Planner) — Optimizes pedagogical recovery utility U(Action, Severity, Role) balancing impact vs burden.</a:t>
            </a:r>
          </a:p>
          <a:p>
            <a:pPr>
              <a:lnSpc>
                <a:spcPct val="115000"/>
              </a:lnSpc>
              <a:spcAft>
                <a:spcPts val="1400"/>
              </a:spcAft>
              <a:defRPr sz="1700">
                <a:solidFill>
                  <a:srgbClr val="0F172A"/>
                </a:solidFill>
              </a:defRPr>
            </a:pPr>
            <a:r>
              <a:t>•  Agent 4: Learning &amp; Verification Agent (Critic &amp; Auditor) — Adversarial critic asserting mathematical invariants; feeds correction learning loop.</a:t>
            </a:r>
          </a:p>
          <a:p>
            <a:pPr>
              <a:lnSpc>
                <a:spcPct val="115000"/>
              </a:lnSpc>
              <a:spcAft>
                <a:spcPts val="1400"/>
              </a:spcAft>
              <a:defRPr sz="1700">
                <a:solidFill>
                  <a:srgbClr val="0F172A"/>
                </a:solidFill>
              </a:defRPr>
            </a:pPr>
            <a:r>
              <a:t>•  LangGraph Conditional Routing: Enforces explicit graph edges, state persistence, and bounded retries (max 2) before report synthesis.</a:t>
            </a:r>
          </a:p>
        </p:txBody>
      </p:sp>
      <p:sp>
        <p:nvSpPr>
          <p:cNvPr id="5" name="TextBox 4"/>
          <p:cNvSpPr txBox="1"/>
          <p:nvPr/>
        </p:nvSpPr>
        <p:spPr>
          <a:xfrm>
            <a:off x="731520" y="6217920"/>
            <a:ext cx="10698480" cy="365760"/>
          </a:xfrm>
          <a:prstGeom prst="rect">
            <a:avLst/>
          </a:prstGeom>
          <a:noFill/>
        </p:spPr>
        <p:txBody>
          <a:bodyPr wrap="none">
            <a:spAutoFit/>
          </a:bodyPr>
          <a:lstStyle/>
          <a:p>
            <a:pPr>
              <a:defRPr sz="1100">
                <a:solidFill>
                  <a:srgbClr val="475569"/>
                </a:solidFill>
              </a:defRPr>
            </a:pPr>
            <a:r>
              <a:t>EduPilot AI — AIML CA-3 Academic Support System | LangGraph + MCP + 4 Agents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365760"/>
            <a:ext cx="1371600" cy="457200"/>
          </a:xfrm>
          <a:prstGeom prst="rect">
            <a:avLst/>
          </a:prstGeom>
          <a:noFill/>
        </p:spPr>
        <p:txBody>
          <a:bodyPr wrap="none">
            <a:spAutoFit/>
          </a:bodyPr>
          <a:lstStyle/>
          <a:p>
            <a:pPr algn="r">
              <a:defRPr sz="1200" b="1">
                <a:solidFill>
                  <a:srgbClr val="475569"/>
                </a:solidFill>
              </a:defRPr>
            </a:pPr>
            <a:r>
              <a:t>Slide 5 of 7</a:t>
            </a:r>
          </a:p>
        </p:txBody>
      </p:sp>
      <p:sp>
        <p:nvSpPr>
          <p:cNvPr id="3" name="TextBox 2"/>
          <p:cNvSpPr txBox="1"/>
          <p:nvPr/>
        </p:nvSpPr>
        <p:spPr>
          <a:xfrm>
            <a:off x="731520" y="548640"/>
            <a:ext cx="10058400" cy="1371600"/>
          </a:xfrm>
          <a:prstGeom prst="rect">
            <a:avLst/>
          </a:prstGeom>
          <a:noFill/>
        </p:spPr>
        <p:txBody>
          <a:bodyPr wrap="square">
            <a:spAutoFit/>
          </a:bodyPr>
          <a:lstStyle/>
          <a:p>
            <a:pPr>
              <a:defRPr sz="2800" b="1">
                <a:solidFill>
                  <a:srgbClr val="1E3A8A"/>
                </a:solidFill>
              </a:defRPr>
            </a:pPr>
            <a:r>
              <a:t>Streamlit Proof-of-Concept Dashboard Demonstration</a:t>
            </a:r>
          </a:p>
          <a:p>
            <a:pPr>
              <a:spcBef>
                <a:spcPts val="600"/>
              </a:spcBef>
              <a:defRPr sz="1600">
                <a:solidFill>
                  <a:srgbClr val="475569"/>
                </a:solidFill>
              </a:defRPr>
            </a:pPr>
            <a:r>
              <a:t>Intuitive, Professional Academic Analytics Interface Designed for Faculty</a:t>
            </a:r>
          </a:p>
        </p:txBody>
      </p:sp>
      <p:sp>
        <p:nvSpPr>
          <p:cNvPr id="4" name="TextBox 3"/>
          <p:cNvSpPr txBox="1"/>
          <p:nvPr/>
        </p:nvSpPr>
        <p:spPr>
          <a:xfrm>
            <a:off x="731520" y="2103120"/>
            <a:ext cx="10698480" cy="4114800"/>
          </a:xfrm>
          <a:prstGeom prst="rect">
            <a:avLst/>
          </a:prstGeom>
          <a:noFill/>
        </p:spPr>
        <p:txBody>
          <a:bodyPr wrap="square">
            <a:spAutoFit/>
          </a:bodyPr>
          <a:lstStyle/>
          <a:p>
            <a:pPr>
              <a:lnSpc>
                <a:spcPct val="115000"/>
              </a:lnSpc>
              <a:spcAft>
                <a:spcPts val="1400"/>
              </a:spcAft>
              <a:defRPr sz="1700">
                <a:solidFill>
                  <a:srgbClr val="0F172A"/>
                </a:solidFill>
              </a:defRPr>
            </a:pPr>
            <a:r>
              <a:t>•  Page 1: Academic Overview — Cohort-wide KPI cards, attendance histograms, and pre-programmed archetype distribution.</a:t>
            </a:r>
          </a:p>
          <a:p>
            <a:pPr>
              <a:lnSpc>
                <a:spcPct val="115000"/>
              </a:lnSpc>
              <a:spcAft>
                <a:spcPts val="1400"/>
              </a:spcAft>
              <a:defRPr sz="1700">
                <a:solidFill>
                  <a:srgbClr val="0F172A"/>
                </a:solidFill>
              </a:defRPr>
            </a:pPr>
            <a:r>
              <a:t>•  Page 2: Analyze Student — Deep-dive investigation featuring subject-wise attendance bars, trajectory charts, and evidence callouts.</a:t>
            </a:r>
          </a:p>
          <a:p>
            <a:pPr>
              <a:lnSpc>
                <a:spcPct val="115000"/>
              </a:lnSpc>
              <a:spcAft>
                <a:spcPts val="1400"/>
              </a:spcAft>
              <a:defRPr sz="1700">
                <a:solidFill>
                  <a:srgbClr val="0F172A"/>
                </a:solidFill>
              </a:defRPr>
            </a:pPr>
            <a:r>
              <a:t>•  Page 3: Agent Workflow — Live observability into real LangGraph node execution events, latencies, and MCP tool logs.</a:t>
            </a:r>
          </a:p>
          <a:p>
            <a:pPr>
              <a:lnSpc>
                <a:spcPct val="115000"/>
              </a:lnSpc>
              <a:spcAft>
                <a:spcPts val="1400"/>
              </a:spcAft>
              <a:defRPr sz="1700">
                <a:solidFill>
                  <a:srgbClr val="0F172A"/>
                </a:solidFill>
              </a:defRPr>
            </a:pPr>
            <a:r>
              <a:t>•  Page 4: Intervention Reports — Complete 18-field standardized documentation with one-click JSON and CSV export.</a:t>
            </a:r>
          </a:p>
          <a:p>
            <a:pPr>
              <a:lnSpc>
                <a:spcPct val="115000"/>
              </a:lnSpc>
              <a:spcAft>
                <a:spcPts val="1400"/>
              </a:spcAft>
              <a:defRPr sz="1700">
                <a:solidFill>
                  <a:srgbClr val="0F172A"/>
                </a:solidFill>
              </a:defRPr>
            </a:pPr>
            <a:r>
              <a:t>•  Page 5: Batch Analysis — Rapid whole-section screening with automated support-priority categorization (High, Medium, Low).</a:t>
            </a:r>
          </a:p>
        </p:txBody>
      </p:sp>
      <p:sp>
        <p:nvSpPr>
          <p:cNvPr id="5" name="TextBox 4"/>
          <p:cNvSpPr txBox="1"/>
          <p:nvPr/>
        </p:nvSpPr>
        <p:spPr>
          <a:xfrm>
            <a:off x="731520" y="6217920"/>
            <a:ext cx="10698480" cy="365760"/>
          </a:xfrm>
          <a:prstGeom prst="rect">
            <a:avLst/>
          </a:prstGeom>
          <a:noFill/>
        </p:spPr>
        <p:txBody>
          <a:bodyPr wrap="none">
            <a:spAutoFit/>
          </a:bodyPr>
          <a:lstStyle/>
          <a:p>
            <a:pPr>
              <a:defRPr sz="1100">
                <a:solidFill>
                  <a:srgbClr val="475569"/>
                </a:solidFill>
              </a:defRPr>
            </a:pPr>
            <a:r>
              <a:t>EduPilot AI — AIML CA-3 Academic Support System | LangGraph + MCP + 4 Agents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365760"/>
            <a:ext cx="1371600" cy="457200"/>
          </a:xfrm>
          <a:prstGeom prst="rect">
            <a:avLst/>
          </a:prstGeom>
          <a:noFill/>
        </p:spPr>
        <p:txBody>
          <a:bodyPr wrap="none">
            <a:spAutoFit/>
          </a:bodyPr>
          <a:lstStyle/>
          <a:p>
            <a:pPr algn="r">
              <a:defRPr sz="1200" b="1">
                <a:solidFill>
                  <a:srgbClr val="475569"/>
                </a:solidFill>
              </a:defRPr>
            </a:pPr>
            <a:r>
              <a:t>Slide 6 of 7</a:t>
            </a:r>
          </a:p>
        </p:txBody>
      </p:sp>
      <p:sp>
        <p:nvSpPr>
          <p:cNvPr id="3" name="TextBox 2"/>
          <p:cNvSpPr txBox="1"/>
          <p:nvPr/>
        </p:nvSpPr>
        <p:spPr>
          <a:xfrm>
            <a:off x="731520" y="548640"/>
            <a:ext cx="10058400" cy="1371600"/>
          </a:xfrm>
          <a:prstGeom prst="rect">
            <a:avLst/>
          </a:prstGeom>
          <a:noFill/>
        </p:spPr>
        <p:txBody>
          <a:bodyPr wrap="square">
            <a:spAutoFit/>
          </a:bodyPr>
          <a:lstStyle/>
          <a:p>
            <a:pPr>
              <a:defRPr sz="2800" b="1">
                <a:solidFill>
                  <a:srgbClr val="1E3A8A"/>
                </a:solidFill>
              </a:defRPr>
            </a:pPr>
            <a:r>
              <a:t>Verification, Critic Audit &amp; Empirical Benchmark Results</a:t>
            </a:r>
          </a:p>
          <a:p>
            <a:pPr>
              <a:spcBef>
                <a:spcPts val="600"/>
              </a:spcBef>
              <a:defRPr sz="1600">
                <a:solidFill>
                  <a:srgbClr val="475569"/>
                </a:solidFill>
              </a:defRPr>
            </a:pPr>
            <a:r>
              <a:t>Quantitative Rule Evaluation, Invariant Safety Auditing, and Performance Benchmarks</a:t>
            </a:r>
          </a:p>
        </p:txBody>
      </p:sp>
      <p:sp>
        <p:nvSpPr>
          <p:cNvPr id="4" name="TextBox 3"/>
          <p:cNvSpPr txBox="1"/>
          <p:nvPr/>
        </p:nvSpPr>
        <p:spPr>
          <a:xfrm>
            <a:off x="731520" y="2103120"/>
            <a:ext cx="10698480" cy="4114800"/>
          </a:xfrm>
          <a:prstGeom prst="rect">
            <a:avLst/>
          </a:prstGeom>
          <a:noFill/>
        </p:spPr>
        <p:txBody>
          <a:bodyPr wrap="square">
            <a:spAutoFit/>
          </a:bodyPr>
          <a:lstStyle/>
          <a:p>
            <a:pPr>
              <a:lnSpc>
                <a:spcPct val="115000"/>
              </a:lnSpc>
              <a:spcAft>
                <a:spcPts val="1400"/>
              </a:spcAft>
              <a:defRPr sz="1700">
                <a:solidFill>
                  <a:srgbClr val="0F172A"/>
                </a:solidFill>
              </a:defRPr>
            </a:pPr>
            <a:r>
              <a:t>•  Automated Testing Suite: 26 Pytest test cases passing with 100% success rate across schemas, rules, agents, and graph.</a:t>
            </a:r>
          </a:p>
          <a:p>
            <a:pPr>
              <a:lnSpc>
                <a:spcPct val="115000"/>
              </a:lnSpc>
              <a:spcAft>
                <a:spcPts val="1400"/>
              </a:spcAft>
              <a:defRPr sz="1700">
                <a:solidFill>
                  <a:srgbClr val="0F172A"/>
                </a:solidFill>
              </a:defRPr>
            </a:pPr>
            <a:r>
              <a:t>•  Empirical Benchmarking: 10 reproducible scenarios evaluated via scripts/evaluate.py across synthetic archetypes.</a:t>
            </a:r>
          </a:p>
          <a:p>
            <a:pPr>
              <a:lnSpc>
                <a:spcPct val="115000"/>
              </a:lnSpc>
              <a:spcAft>
                <a:spcPts val="1400"/>
              </a:spcAft>
              <a:defRPr sz="1700">
                <a:solidFill>
                  <a:srgbClr val="0F172A"/>
                </a:solidFill>
              </a:defRPr>
            </a:pPr>
            <a:r>
              <a:t>•  100.0% Rule Compliance Rate: Exact adherence to attendance (&lt;75%), failing marks (&lt;40%), and trajectory decline (&gt;=15% pts).</a:t>
            </a:r>
          </a:p>
          <a:p>
            <a:pPr>
              <a:lnSpc>
                <a:spcPct val="115000"/>
              </a:lnSpc>
              <a:spcAft>
                <a:spcPts val="1400"/>
              </a:spcAft>
              <a:defRPr sz="1700">
                <a:solidFill>
                  <a:srgbClr val="0F172A"/>
                </a:solidFill>
              </a:defRPr>
            </a:pPr>
            <a:r>
              <a:t>•  Instantaneous Latency: Average end-to-end multi-agent execution duration of 6.9 milliseconds per student.</a:t>
            </a:r>
          </a:p>
          <a:p>
            <a:pPr>
              <a:lnSpc>
                <a:spcPct val="115000"/>
              </a:lnSpc>
              <a:spcAft>
                <a:spcPts val="1400"/>
              </a:spcAft>
              <a:defRPr sz="1700">
                <a:solidFill>
                  <a:srgbClr val="0F172A"/>
                </a:solidFill>
              </a:defRPr>
            </a:pPr>
            <a:r>
              <a:t>•  Adversarial Trapping: Critic successfully trapped data corruption (attended &gt; held) and ungrounded intervention claims.</a:t>
            </a:r>
          </a:p>
        </p:txBody>
      </p:sp>
      <p:sp>
        <p:nvSpPr>
          <p:cNvPr id="5" name="TextBox 4"/>
          <p:cNvSpPr txBox="1"/>
          <p:nvPr/>
        </p:nvSpPr>
        <p:spPr>
          <a:xfrm>
            <a:off x="731520" y="6217920"/>
            <a:ext cx="10698480" cy="365760"/>
          </a:xfrm>
          <a:prstGeom prst="rect">
            <a:avLst/>
          </a:prstGeom>
          <a:noFill/>
        </p:spPr>
        <p:txBody>
          <a:bodyPr wrap="none">
            <a:spAutoFit/>
          </a:bodyPr>
          <a:lstStyle/>
          <a:p>
            <a:pPr>
              <a:defRPr sz="1100">
                <a:solidFill>
                  <a:srgbClr val="475569"/>
                </a:solidFill>
              </a:defRPr>
            </a:pPr>
            <a:r>
              <a:t>EduPilot AI — AIML CA-3 Academic Support System | LangGraph + MCP + 4 Agents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515600" y="365760"/>
            <a:ext cx="1371600" cy="457200"/>
          </a:xfrm>
          <a:prstGeom prst="rect">
            <a:avLst/>
          </a:prstGeom>
          <a:noFill/>
        </p:spPr>
        <p:txBody>
          <a:bodyPr wrap="none">
            <a:spAutoFit/>
          </a:bodyPr>
          <a:lstStyle/>
          <a:p>
            <a:pPr algn="r">
              <a:defRPr sz="1200" b="1">
                <a:solidFill>
                  <a:srgbClr val="475569"/>
                </a:solidFill>
              </a:defRPr>
            </a:pPr>
            <a:r>
              <a:t>Slide 7 of 7</a:t>
            </a:r>
          </a:p>
        </p:txBody>
      </p:sp>
      <p:sp>
        <p:nvSpPr>
          <p:cNvPr id="3" name="TextBox 2"/>
          <p:cNvSpPr txBox="1"/>
          <p:nvPr/>
        </p:nvSpPr>
        <p:spPr>
          <a:xfrm>
            <a:off x="731520" y="548640"/>
            <a:ext cx="10058400" cy="1371600"/>
          </a:xfrm>
          <a:prstGeom prst="rect">
            <a:avLst/>
          </a:prstGeom>
          <a:noFill/>
        </p:spPr>
        <p:txBody>
          <a:bodyPr wrap="square">
            <a:spAutoFit/>
          </a:bodyPr>
          <a:lstStyle/>
          <a:p>
            <a:pPr>
              <a:defRPr sz="2800" b="1">
                <a:solidFill>
                  <a:srgbClr val="1E3A8A"/>
                </a:solidFill>
              </a:defRPr>
            </a:pPr>
            <a:r>
              <a:t>Ethical Safeguards, System Limitations &amp; Conclusion</a:t>
            </a:r>
          </a:p>
          <a:p>
            <a:pPr>
              <a:spcBef>
                <a:spcPts val="600"/>
              </a:spcBef>
              <a:defRPr sz="1600">
                <a:solidFill>
                  <a:srgbClr val="475569"/>
                </a:solidFill>
              </a:defRPr>
            </a:pPr>
            <a:r>
              <a:t>Ethical Boundaries, Synthetic Data Considerations, and Future Scope</a:t>
            </a:r>
          </a:p>
        </p:txBody>
      </p:sp>
      <p:sp>
        <p:nvSpPr>
          <p:cNvPr id="4" name="TextBox 3"/>
          <p:cNvSpPr txBox="1"/>
          <p:nvPr/>
        </p:nvSpPr>
        <p:spPr>
          <a:xfrm>
            <a:off x="731520" y="2103120"/>
            <a:ext cx="10698480" cy="4114800"/>
          </a:xfrm>
          <a:prstGeom prst="rect">
            <a:avLst/>
          </a:prstGeom>
          <a:noFill/>
        </p:spPr>
        <p:txBody>
          <a:bodyPr wrap="square">
            <a:spAutoFit/>
          </a:bodyPr>
          <a:lstStyle/>
          <a:p>
            <a:pPr>
              <a:lnSpc>
                <a:spcPct val="115000"/>
              </a:lnSpc>
              <a:spcAft>
                <a:spcPts val="1400"/>
              </a:spcAft>
              <a:defRPr sz="1700">
                <a:solidFill>
                  <a:srgbClr val="0F172A"/>
                </a:solidFill>
              </a:defRPr>
            </a:pPr>
            <a:r>
              <a:t>•  Ethical Boundary: Purely decision support. Never makes consequential, grading, or punitive decisions automatically.</a:t>
            </a:r>
          </a:p>
          <a:p>
            <a:pPr>
              <a:lnSpc>
                <a:spcPct val="115000"/>
              </a:lnSpc>
              <a:spcAft>
                <a:spcPts val="1400"/>
              </a:spcAft>
              <a:defRPr sz="1700">
                <a:solidFill>
                  <a:srgbClr val="0F172A"/>
                </a:solidFill>
              </a:defRPr>
            </a:pPr>
            <a:r>
              <a:t>•  Privacy &amp; Fairness: Operates strictly on anonymous synthetic IDs (STU####); zero PII and zero demographic bias.</a:t>
            </a:r>
          </a:p>
          <a:p>
            <a:pPr>
              <a:lnSpc>
                <a:spcPct val="115000"/>
              </a:lnSpc>
              <a:spcAft>
                <a:spcPts val="1400"/>
              </a:spcAft>
              <a:defRPr sz="1700">
                <a:solidFill>
                  <a:srgbClr val="0F172A"/>
                </a:solidFill>
              </a:defRPr>
            </a:pPr>
            <a:r>
              <a:t>•  Honest Limitations: Synthetic data cannot model qualitative realities (illness, grief, personal emergencies).</a:t>
            </a:r>
          </a:p>
          <a:p>
            <a:pPr>
              <a:lnSpc>
                <a:spcPct val="115000"/>
              </a:lnSpc>
              <a:spcAft>
                <a:spcPts val="1400"/>
              </a:spcAft>
              <a:defRPr sz="1700">
                <a:solidFill>
                  <a:srgbClr val="0F172A"/>
                </a:solidFill>
              </a:defRPr>
            </a:pPr>
            <a:r>
              <a:t>•  Mandatory Human Oversight: Faculty mentors must review, contextualize, and approve all recommended interventions.</a:t>
            </a:r>
          </a:p>
          <a:p>
            <a:pPr>
              <a:lnSpc>
                <a:spcPct val="115000"/>
              </a:lnSpc>
              <a:spcAft>
                <a:spcPts val="1400"/>
              </a:spcAft>
              <a:defRPr sz="1700">
                <a:solidFill>
                  <a:srgbClr val="0F172A"/>
                </a:solidFill>
              </a:defRPr>
            </a:pPr>
            <a:r>
              <a:t>•  Conclusion: EduPilot AI provides a robust, transparent, and reproducible blueprint for agentic academic decision support.</a:t>
            </a:r>
          </a:p>
        </p:txBody>
      </p:sp>
      <p:sp>
        <p:nvSpPr>
          <p:cNvPr id="5" name="TextBox 4"/>
          <p:cNvSpPr txBox="1"/>
          <p:nvPr/>
        </p:nvSpPr>
        <p:spPr>
          <a:xfrm>
            <a:off x="731520" y="6217920"/>
            <a:ext cx="10698480" cy="365760"/>
          </a:xfrm>
          <a:prstGeom prst="rect">
            <a:avLst/>
          </a:prstGeom>
          <a:noFill/>
        </p:spPr>
        <p:txBody>
          <a:bodyPr wrap="none">
            <a:spAutoFit/>
          </a:bodyPr>
          <a:lstStyle/>
          <a:p>
            <a:pPr>
              <a:defRPr sz="1100">
                <a:solidFill>
                  <a:srgbClr val="475569"/>
                </a:solidFill>
              </a:defRPr>
            </a:pPr>
            <a:r>
              <a:t>EduPilot AI — AIML CA-3 Academic Support System | LangGraph + MCP + 4 Agents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